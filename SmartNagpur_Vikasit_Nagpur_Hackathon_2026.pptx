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J981gciAkakxYMNF0g1tVV9d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Oswald-regular.fntdata"/><Relationship Id="rId14" Type="http://schemas.openxmlformats.org/officeDocument/2006/relationships/font" Target="fonts/Oswald-bold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684225" y="1576675"/>
            <a:ext cx="103632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rgbClr val="FF99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VIKASIT NAGPUR HACKATHON 2026</a:t>
            </a:r>
            <a:endParaRPr b="1" sz="3200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0000" y="2150000"/>
            <a:ext cx="113000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42000" marR="0" rtl="0" algn="just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1">
                <a:solidFill>
                  <a:srgbClr val="0F172A"/>
                </a:solidFill>
                <a:latin typeface="Arial"/>
              </a:rPr>
              <a:t>Project Name (Registered on portal): </a:t>
            </a:r>
            <a:r>
              <a:rPr sz="1300" b="1">
                <a:solidFill>
                  <a:srgbClr val="1D4ED8"/>
                </a:solidFill>
                <a:latin typeface="Arial"/>
              </a:rPr>
              <a:t>Smart Nagpur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Registration No (Received on Whatsapp): </a:t>
            </a:r>
            <a:r>
              <a:rPr sz="1300" b="0">
                <a:solidFill>
                  <a:srgbClr val="334155"/>
                </a:solidFill>
                <a:latin typeface="Arial"/>
              </a:rPr>
              <a:t>[Your Registration No / Team ID]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Theme (Existing): </a:t>
            </a:r>
            <a:r>
              <a:rPr sz="1300" b="0">
                <a:solidFill>
                  <a:srgbClr val="334155"/>
                </a:solidFill>
                <a:latin typeface="Arial"/>
              </a:rPr>
              <a:t>Smart Cities, Urban Governance &amp; Clean Environment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Problem Statement Title (Existing): </a:t>
            </a:r>
            <a:r>
              <a:rPr sz="1300" b="0">
                <a:solidFill>
                  <a:srgbClr val="334155"/>
                </a:solidFill>
                <a:latin typeface="Arial"/>
              </a:rPr>
              <a:t>Digital Civic Grievance Redressal, Street Vendor Permitting &amp; Municipal Maintenance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Expected Solution Title (Existing): </a:t>
            </a:r>
            <a:r>
              <a:rPr sz="1300" b="0">
                <a:solidFill>
                  <a:srgbClr val="334155"/>
                </a:solidFill>
                <a:latin typeface="Arial"/>
              </a:rPr>
              <a:t>Centralized Civic Service Delivery &amp; Municipal Workflow Automation Platform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Designed Solution Title (Team): </a:t>
            </a:r>
            <a:r>
              <a:rPr sz="1300" b="1">
                <a:solidFill>
                  <a:srgbClr val="1D4ED8"/>
                </a:solidFill>
                <a:latin typeface="Arial"/>
              </a:rPr>
              <a:t>Smart Nagpur: Multi-Role Civic Ecosystem (Citizen, Staff, Admin) with Real-Time Geotagged Tracking &amp; Supabase RLS</a:t>
            </a: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Screenshot 2026-08-05 at 12.29.40 PM.png"/>
          <p:cNvPicPr preferRelativeResize="0"/>
          <p:nvPr/>
        </p:nvPicPr>
        <p:blipFill rotWithShape="1">
          <a:blip r:embed="rId5">
            <a:alphaModFix/>
          </a:blip>
          <a:srcRect b="0" l="289" r="0" t="0"/>
          <a:stretch/>
        </p:blipFill>
        <p:spPr>
          <a:xfrm>
            <a:off x="1261073" y="5359425"/>
            <a:ext cx="9937951" cy="12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600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00000" y="2050000"/>
            <a:ext cx="1120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1. 3-Tier Multi-Role Mobile Ecosystem: </a:t>
            </a:r>
            <a:r>
              <a:rPr sz="1200" b="0">
                <a:solidFill>
                  <a:srgbClr val="334155"/>
                </a:solidFill>
                <a:latin typeface="Arial"/>
              </a:rPr>
              <a:t>Built with Flutter for 3 dedicated user personas -- Citizen App (com.smartnagpur.citizen), Field Staff App (com.smartnagpur.staff), and Municipal Admin Portal (com.smartnagpur.admin).</a:t>
            </a:r>
            <a:endParaRPr b="0" i="0" sz="18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2. 10 Core Municipal Service Categories: </a:t>
            </a:r>
            <a:r>
              <a:rPr sz="1200" b="0">
                <a:solidFill>
                  <a:srgbClr val="334155"/>
                </a:solidFill>
                <a:latin typeface="Arial"/>
              </a:rPr>
              <a:t>Comprehensive grievance reporting covering Garbage/Sanitation, Water Supply, Roads &amp; Potholes, Drainage, Streetlights, Stray Animals, Encroachments, Public Spaces, Vendor Permitting, and General Inquiries.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3. 4-Step Grievance Reporting Wizard: </a:t>
            </a:r>
            <a:r>
              <a:rPr sz="1200" b="0">
                <a:solidFill>
                  <a:srgbClr val="334155"/>
                </a:solidFill>
                <a:latin typeface="Arial"/>
              </a:rPr>
              <a:t>Instant GPS auto-fetching, interactive map pin refinement, multi-image proof capture (up to 3 images), and atomic cloud submission via Supabase.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4. Digital Street Vendor Permitting: </a:t>
            </a:r>
            <a:r>
              <a:rPr sz="1200" b="0">
                <a:solidFill>
                  <a:srgbClr val="334155"/>
                </a:solidFill>
                <a:latin typeface="Arial"/>
              </a:rPr>
              <a:t>End-to-end 4-step digital onboarding, document verification (Aadhaar/FSSAI), designated hawking zone explorer, and express permit renewals.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5. Real-Time SLA Transparency &amp; Milestones: </a:t>
            </a:r>
            <a:r>
              <a:rPr sz="1200" b="0">
                <a:solidFill>
                  <a:srgbClr val="334155"/>
                </a:solidFill>
                <a:latin typeface="Arial"/>
              </a:rPr>
              <a:t>Live milestone audit trail (Submitted -&gt; Under Review -&gt; Assigned -&gt; In Progress -&gt; Resolved) with official officer remarks and native Marathi/English localization.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&gt; </a:t>
            </a:r>
            <a:r>
              <a:rPr sz="1200" b="1">
                <a:solidFill>
                  <a:srgbClr val="0F172A"/>
                </a:solidFill>
                <a:latin typeface="Arial"/>
              </a:rPr>
              <a:t>6. Innovation &amp; Uniqueness: </a:t>
            </a:r>
            <a:r>
              <a:rPr sz="1200" b="0">
                <a:solidFill>
                  <a:srgbClr val="334155"/>
                </a:solidFill>
                <a:latin typeface="Arial"/>
              </a:rPr>
              <a:t>Single codebase supporting 3 build flavors, offline demo sandbox, transactional database RPCs, and zero-latency real-time field task dispatching.</a:t>
            </a:r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000000" y="1400000"/>
            <a:ext cx="8000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700" b="1">
                <a:solidFill>
                  <a:srgbClr val="1D4ED8"/>
                </a:solidFill>
                <a:latin typeface="Arial"/>
              </a:rPr>
              <a:t>SMART NAGPUR: UNIFIED CIVIC ENGAGEMENT PLATFORM</a:t>
            </a:r>
            <a:endParaRPr b="0" i="0" sz="2400" u="none" cap="none" strike="noStrike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3493825" y="1537451"/>
            <a:ext cx="40830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00000" y="2100000"/>
            <a:ext cx="1120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sz="1200" b="1">
                <a:solidFill>
                  <a:srgbClr val="1D4ED8"/>
                </a:solidFill>
                <a:latin typeface="Arial"/>
              </a:rPr>
              <a:t>A. TECHNOLOGY STACK &amp; 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Frontend / Mobile: </a:t>
            </a:r>
            <a:r>
              <a:rPr sz="1100" b="0">
                <a:solidFill>
                  <a:srgbClr val="334155"/>
                </a:solidFill>
                <a:latin typeface="Arial"/>
              </a:rPr>
              <a:t>Flutter 3.x (Dart), Riverpod for reactive state management, Material 3 Design System, Marathi &amp; English localization.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Backend &amp; Database: </a:t>
            </a:r>
            <a:r>
              <a:rPr sz="1100" b="0">
                <a:solidFill>
                  <a:srgbClr val="334155"/>
                </a:solidFill>
                <a:latin typeface="Arial"/>
              </a:rPr>
              <a:t>Supabase (PostgreSQL 15), Row-Level Security (RLS) policies, Custom transactional RPCs (submit_complaint_atomic, assign_staff_task).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Auth &amp; Storage: </a:t>
            </a:r>
            <a:r>
              <a:rPr sz="1100" b="0">
                <a:solidFill>
                  <a:srgbClr val="334155"/>
                </a:solidFill>
                <a:latin typeface="Arial"/>
              </a:rPr>
              <a:t>Supabase Auth (JWT/RBAC), Encrypted Storage Buckets (complaint-photos, vendor-docs) with private access control.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Geolocation &amp; Maps: </a:t>
            </a:r>
            <a:r>
              <a:rPr sz="1100" b="0">
                <a:solidFill>
                  <a:srgbClr val="334155"/>
                </a:solidFill>
                <a:latin typeface="Arial"/>
              </a:rPr>
              <a:t>geolocator GPS accuracy engine with OpenStreetMap / Mapbox pin rendering.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Arial"/>
              </a:rPr>
              <a:t>B. IMPLEMENTATION WORKFLOW &amp; PROCESS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Citizen Submission: </a:t>
            </a:r>
            <a:r>
              <a:rPr sz="1100" b="0">
                <a:solidFill>
                  <a:srgbClr val="334155"/>
                </a:solidFill>
                <a:latin typeface="Arial"/>
              </a:rPr>
              <a:t>Grievance captured with GPS coordinates &amp; photo evidence -&gt; atomic database insert.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Admin Triage &amp; RBAC: </a:t>
            </a:r>
            <a:r>
              <a:rPr sz="1100" b="0">
                <a:solidFill>
                  <a:srgbClr val="334155"/>
                </a:solidFill>
                <a:latin typeface="Arial"/>
              </a:rPr>
              <a:t>Municipal officers review queue, verify documents, set SLA priority, and dispatch to on-duty field staff.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Field Staff Execution: </a:t>
            </a:r>
            <a:r>
              <a:rPr sz="1100" b="0">
                <a:solidFill>
                  <a:srgbClr val="334155"/>
                </a:solidFill>
                <a:latin typeface="Arial"/>
              </a:rPr>
              <a:t>Real-time task notification -&gt; GPS route navigation -&gt; on-ground resolution -&gt; Before/After photo proof upload -&gt; instant ticket closure.</a:t>
            </a: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00000" y="2100000"/>
            <a:ext cx="1120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200" b="1">
                <a:solidFill>
                  <a:srgbClr val="1D4ED8"/>
                </a:solidFill>
                <a:latin typeface="Arial"/>
              </a:rPr>
              <a:t>1. PRACTICAL ANALYSIS &amp; IMPLEMENTATION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Production Codebase: </a:t>
            </a:r>
            <a:r>
              <a:rPr sz="1100" b="0">
                <a:solidFill>
                  <a:srgbClr val="334155"/>
                </a:solidFill>
                <a:latin typeface="Arial"/>
              </a:rPr>
              <a:t>Unified Flutter project configured with 3 build flavors (Citizen, Staff, Admin) sharing domain models and repositories.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Enterprise Security: </a:t>
            </a:r>
            <a:r>
              <a:rPr sz="1100" b="0">
                <a:solidFill>
                  <a:srgbClr val="334155"/>
                </a:solidFill>
                <a:latin typeface="Arial"/>
              </a:rPr>
              <a:t>PostgreSQL Row-Level Security (RLS) protects citizen privacy, isolates vendor documentation, and restricts admin operations.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Arial"/>
              </a:rPr>
              <a:t>2. FORESEEN CHALLENGES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Digital Literacy: </a:t>
            </a:r>
            <a:r>
              <a:rPr sz="1100" b="0">
                <a:solidFill>
                  <a:srgbClr val="334155"/>
                </a:solidFill>
                <a:latin typeface="Arial"/>
              </a:rPr>
              <a:t>Street vendors and elderly citizens may find complex digital interfaces challenging.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Spam / Duplicate Reports: </a:t>
            </a:r>
            <a:r>
              <a:rPr sz="1100" b="0">
                <a:solidFill>
                  <a:srgbClr val="334155"/>
                </a:solidFill>
                <a:latin typeface="Arial"/>
              </a:rPr>
              <a:t>Multiple citizens reporting the same civic issue (e.g. single pothole) causing clutter.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Field Connectivity: </a:t>
            </a:r>
            <a:r>
              <a:rPr sz="1100" b="0">
                <a:solidFill>
                  <a:srgbClr val="334155"/>
                </a:solidFill>
                <a:latin typeface="Arial"/>
              </a:rPr>
              <a:t>Intermittent network connectivity in remote wards and basements.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Arial"/>
              </a:rPr>
              <a:t>3. STRATEGIES FOR OVERCOMING CHALLENGES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Accessible UI &amp; Marathi Support: </a:t>
            </a:r>
            <a:r>
              <a:rPr sz="1100" b="0">
                <a:solidFill>
                  <a:srgbClr val="334155"/>
                </a:solidFill>
                <a:latin typeface="Arial"/>
              </a:rPr>
              <a:t>Clean, icon-driven interface with native Marathi localization and voice-assisted form inputs.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Geospatial De-duplication: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Automatic grouping of nearby complaints within 50m radius into a single municipal ticket.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Offline-First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Local database caching with automatic background synchronization upon reconnection.</a:t>
            </a:r>
          </a:p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00000" y="2100000"/>
            <a:ext cx="1120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200" b="1">
                <a:solidFill>
                  <a:srgbClr val="1D4ED8"/>
                </a:solidFill>
                <a:latin typeface="Arial"/>
              </a:rPr>
              <a:t>1. POTENTIAL IMPACT &amp; STAKEHOLDER BENEFITS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Citizens of Nagpur: </a:t>
            </a:r>
            <a:r>
              <a:rPr sz="1100" b="0">
                <a:solidFill>
                  <a:srgbClr val="334155"/>
                </a:solidFill>
                <a:latin typeface="Arial"/>
              </a:rPr>
              <a:t>Grievance resolution turnaround cut from weeks to 24-48 hours; complete transparency with before/after photos and audit logs.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Nagpur Municipal Corporation (NMC): </a:t>
            </a:r>
            <a:r>
              <a:rPr sz="1100" b="0">
                <a:solidFill>
                  <a:srgbClr val="334155"/>
                </a:solidFill>
                <a:latin typeface="Arial"/>
              </a:rPr>
              <a:t>70% reduction in paper processing; centralized live operations dashboard with ward-wise analytics and SLA heatmaps.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Street Vendors &amp; Hawkers: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Transparent digital permits, elimination of unofficial middlemen, and legal protection in designated hawking zones.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Field Maintenance Staff: </a:t>
            </a:r>
            <a:r>
              <a:rPr sz="1100" b="0">
                <a:solidFill>
                  <a:srgbClr val="334155"/>
                </a:solidFill>
                <a:latin typeface="Arial"/>
              </a:rPr>
              <a:t>Optimized task routing, clear daily workload visibility, and verifiable digital proof of work completion.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Arial"/>
              </a:rPr>
              <a:t>2. ALIGNMENT WITH SUSTAINABLE DEVELOPMENT GOALS (SDGs)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SDG 11 (Sustainable Cities &amp; Communities): </a:t>
            </a:r>
            <a:r>
              <a:rPr sz="1100" b="0">
                <a:solidFill>
                  <a:srgbClr val="334155"/>
                </a:solidFill>
                <a:latin typeface="Arial"/>
              </a:rPr>
              <a:t>Targeted improvement in urban waste management, pothole-free roads, and public safety infrastructure.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SDG 9 (Industry, Innovation &amp; Infrastructure): </a:t>
            </a:r>
            <a:r>
              <a:rPr sz="1100" b="0">
                <a:solidFill>
                  <a:srgbClr val="334155"/>
                </a:solidFill>
                <a:latin typeface="Arial"/>
              </a:rPr>
              <a:t>Modern digital infrastructure elevating public municipal utility services.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SDG 16 (Peace, Justice &amp; Strong Institutions):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Transparent, accountable, corruption-free public grievance redressal with verified audit trails.</a:t>
            </a:r>
          </a:p>
        </p:txBody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500000" y="2100000"/>
            <a:ext cx="1120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200" b="1">
                <a:solidFill>
                  <a:srgbClr val="1D4ED8"/>
                </a:solidFill>
                <a:latin typeface="Arial"/>
              </a:rPr>
              <a:t>1. MUNICIPAL &amp; GOVERNANCE FRAMEWORKS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Nagpur Municipal Corporation (NMC) Citizen Charter: </a:t>
            </a:r>
            <a:r>
              <a:rPr sz="1100" b="0">
                <a:solidFill>
                  <a:srgbClr val="334155"/>
                </a:solidFill>
                <a:latin typeface="Arial"/>
              </a:rPr>
              <a:t>Standard Operating Procedures (SOPs) for civic grievance classification, escalation levels, and ward boundary definitions.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Smart Cities Mission Guidelines (MoHUA, Govt. of India): </a:t>
            </a:r>
            <a:r>
              <a:rPr sz="1100" b="0">
                <a:solidFill>
                  <a:srgbClr val="334155"/>
                </a:solidFill>
                <a:latin typeface="Arial"/>
              </a:rPr>
              <a:t>Standards for citizen-centric mobile governance and Integrated Command &amp; Control Centre (ICCC) data models.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Street Vendors (Protection of Livelihood &amp; Regulation of Street Vending) Act 2014: </a:t>
            </a:r>
            <a:r>
              <a:rPr sz="1100" b="0">
                <a:solidFill>
                  <a:srgbClr val="334155"/>
                </a:solidFill>
                <a:latin typeface="Arial"/>
              </a:rPr>
              <a:t>Legal guidelines for designated vending zones, survey mechanisms, and digital registration.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rial"/>
              </a:rPr>
              <a:t>2. TECHNICAL &amp; SYSTEM ARCHITECTURE REFERENCES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Supabase Architecture &amp; PostgreSQL Best Practices: </a:t>
            </a:r>
            <a:r>
              <a:rPr sz="1100" b="0">
                <a:solidFill>
                  <a:srgbClr val="334155"/>
                </a:solidFill>
                <a:latin typeface="Arial"/>
              </a:rPr>
              <a:t>Implementation of Row-Level Security (RLS), ACID-compliant transactional RPCs, and Realtime WebSocket replication.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  &gt; </a:t>
            </a:r>
            <a:r>
              <a:rPr sz="1100" b="1">
                <a:solidFill>
                  <a:srgbClr val="0F172A"/>
                </a:solidFill>
                <a:latin typeface="Arial"/>
              </a:rPr>
              <a:t>Flutter Multi-Flavor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Industry-standard multi-flavor build separation for multi-role mobile deployments from a single maintainable codebase.</a:t>
            </a:r>
          </a:p>
        </p:txBody>
      </p:sp>
      <p:sp>
        <p:nvSpPr>
          <p:cNvPr id="146" name="Google Shape;146;p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936175" y="2590750"/>
            <a:ext cx="100149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 to 7 Only 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Pitching time: 3 min each team strictly (Extra time will not be allowed)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remove this instruction page before presenting and submitting final ppt.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2044950" y="1351756"/>
            <a:ext cx="84105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i="0" sz="24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395522" y="2122696"/>
            <a:ext cx="95577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follow Instructions while submitting PPT: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